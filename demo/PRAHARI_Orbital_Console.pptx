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FFFFFF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FFFFFF"/>
                </a:solidFill>
                <a:latin typeface="Calibri"/>
              </a:rPr>
              <a:t>Cyclone fatalities in Odisha (comparable landfalls)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Fatalities</c:v>
                </c:pt>
              </c:strCache>
            </c:strRef>
          </c:tx>
          <c:spPr>
            <a:solidFill>
              <a:srgbClr val="FB718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1999 Odisha Super Cyclone</c:v>
                  </c:pt>
                  <c:pt idx="1">
                    <c:v>2019 Cyclone Fani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10000</c:v>
                </c:pt>
                <c:pt idx="1">
                  <c:v>89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FFFFF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3A5C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0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ABHISH~1.AGA/AppData/Local/Temp/claude/c--Users-abhishek-q-agarwal-Downloads-h2s/81d2d1cd-3a2c-4b7e-9761-45a2bd863e24/scratchpad/img/s_fani_viir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0"/>
            <a:ext cx="437357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818120" y="0"/>
            <a:ext cx="4373575" cy="6858000"/>
          </a:xfrm>
          <a:prstGeom prst="rect">
            <a:avLst/>
          </a:prstGeom>
          <a:solidFill>
            <a:srgbClr val="061022">
              <a:alpha val="5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7818120" y="0"/>
            <a:ext cx="1280160" cy="6858000"/>
          </a:xfrm>
          <a:prstGeom prst="rect">
            <a:avLst/>
          </a:prstGeom>
          <a:solidFill>
            <a:srgbClr val="061022">
              <a:alpha val="90000"/>
            </a:srgbClr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40080" y="2103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AEROSPACE SPATIAL INTELLIGENCE FOR DISASTER RESILIENCE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03504" y="2468880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PRAHARI Orbital Console</a:t>
            </a:r>
            <a:endParaRPr lang="en-US" sz="50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93192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satellite data into anticipatory action — from an orbital 3D globe to sub-meter streets, with a live Gemini AI advisor and Google Earth Engine hazard layers.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7607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Anticipatory cyclone response</a:t>
            </a:r>
            <a:pPr indent="0" marL="0">
              <a:buNone/>
            </a:pPr>
            <a:r>
              <a:rPr lang="en-US" sz="1300" b="1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Coastal India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64008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Cyclone Fani · VIIRS · 3 May 2019 · NASA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Bay of Bengal is the deadliest cyclone basin on Earth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2011680"/>
            <a:ext cx="3611880" cy="1874520"/>
          </a:xfrm>
          <a:prstGeom prst="roundRect">
            <a:avLst>
              <a:gd name="adj" fmla="val 5854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24028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8BD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Majority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054096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history’s deadliest tropical cyclones formed here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42816" y="2011680"/>
            <a:ext cx="3611880" cy="1874520"/>
          </a:xfrm>
          <a:prstGeom prst="roundRect">
            <a:avLst>
              <a:gd name="adj" fmla="val 5854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71416" y="224028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BB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~480 km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4471416" y="3054096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Odisha coastline directly exposed to landfalls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28432" y="2011680"/>
            <a:ext cx="3611880" cy="1874520"/>
          </a:xfrm>
          <a:prstGeom prst="roundRect">
            <a:avLst>
              <a:gd name="adj" fmla="val 5854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57032" y="224028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B71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Rising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8257032" y="3054096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sea-surface temperatures intensify wind &amp; surge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4114800"/>
            <a:ext cx="11274552" cy="1737360"/>
          </a:xfrm>
          <a:prstGeom prst="roundRect">
            <a:avLst>
              <a:gd name="adj" fmla="val 6316"/>
            </a:avLst>
          </a:prstGeom>
          <a:solidFill>
            <a:srgbClr val="0F2140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261104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failures compound at the last mile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31520" y="4828032"/>
            <a:ext cx="146304" cy="146304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87552" y="470001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Siloed data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987552" y="502920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B9C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Storm tracks, surge models and vulnerability scores sit in separate tools no responder sees together.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389120" y="4828032"/>
            <a:ext cx="146304" cy="146304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645152" y="470001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Blurry maps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645152" y="502920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B9C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basemaps stop at district level — you can’t see which road, shelter or rooftop actually floods.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046720" y="4828032"/>
            <a:ext cx="146304" cy="146304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302752" y="470001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miss people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8302752" y="502920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B9C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Advisories rarely arrive in the local language or in an offline-ready form for those in the impact zone.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163056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B7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Meteorological Department; NDMA; North Indian Ocean cyclone climatology.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Orbital Console</a:t>
            </a:r>
            <a:pPr algn="l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Hackathon Submission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15568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Orbit-to-rooftop intelligence in a single browser console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965960"/>
            <a:ext cx="5440680" cy="1737360"/>
          </a:xfrm>
          <a:prstGeom prst="roundRect">
            <a:avLst>
              <a:gd name="adj" fmla="val 6316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2240280"/>
            <a:ext cx="457200" cy="45720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71600" y="218541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Multi-scale globe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642616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Seamless zoom from a 3D Earth in orbit to sub-meter street tiles — no blurriness, no context lost.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26480" y="1965960"/>
            <a:ext cx="5440680" cy="1737360"/>
          </a:xfrm>
          <a:prstGeom prst="roundRect">
            <a:avLst>
              <a:gd name="adj" fmla="val 6316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82512" y="2240280"/>
            <a:ext cx="457200" cy="457200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040880" y="218541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hazard layers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040880" y="2642616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storm tracks, hydrodynamic surge &amp; flood zones, plus live Google Earth Engine SAR / DEM overlays.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886200"/>
            <a:ext cx="5440680" cy="1737360"/>
          </a:xfrm>
          <a:prstGeom prst="roundRect">
            <a:avLst>
              <a:gd name="adj" fmla="val 6316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4160520"/>
            <a:ext cx="457200" cy="45720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371600" y="410565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Gemini AI advisor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562856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in plain language; get grounded, action-oriented answers and trilingual advisories — never invented numbers.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0" y="3886200"/>
            <a:ext cx="5440680" cy="1737360"/>
          </a:xfrm>
          <a:prstGeom prst="roundRect">
            <a:avLst>
              <a:gd name="adj" fmla="val 6316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82512" y="4160520"/>
            <a:ext cx="457200" cy="457200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040880" y="410565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Explainable risk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040880" y="4562856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Ward-level vulnerability scores with the drivers behind them, so officials can defend every evacuation call.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163056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B7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prototype: prahari-orbital-console.vercel.app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Orbital Console</a:t>
            </a:r>
            <a:pPr algn="l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Hackathon Submission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10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· LIVE CONSOLE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PRAHARI in action — orbit to rooftop</a:t>
            </a:r>
            <a:endParaRPr lang="en-US" sz="3400" dirty="0"/>
          </a:p>
        </p:txBody>
      </p:sp>
      <p:pic>
        <p:nvPicPr>
          <p:cNvPr id="4" name="Image 0" descr="C:/Users/ABHISH~1.AGA/AppData/Local/Temp/claude/c--Users-abhishek-q-agarwal-Downloads-h2s/81d2d1cd-3a2c-4b7e-9761-45a2bd863e24/scratchpad/img/s_app_glob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810512"/>
            <a:ext cx="5440680" cy="221284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3602736"/>
            <a:ext cx="2768803" cy="310896"/>
          </a:xfrm>
          <a:prstGeom prst="roundRect">
            <a:avLst>
              <a:gd name="adj" fmla="val 17647"/>
            </a:avLst>
          </a:prstGeom>
          <a:solidFill>
            <a:srgbClr val="061022">
              <a:alpha val="88000"/>
            </a:srgbClr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76656" y="3602736"/>
            <a:ext cx="249448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Orbital 3D globe &amp; storm tracks</a:t>
            </a:r>
            <a:endParaRPr lang="en-US" sz="1100" dirty="0"/>
          </a:p>
        </p:txBody>
      </p:sp>
      <p:pic>
        <p:nvPicPr>
          <p:cNvPr id="7" name="Image 1" descr="C:/Users/ABHISH~1.AGA/AppData/Local/Temp/claude/c--Users-abhishek-q-agarwal-Downloads-h2s/81d2d1cd-3a2c-4b7e-9761-45a2bd863e24/scratchpad/img/s_app_district2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91072" y="1810512"/>
            <a:ext cx="5440680" cy="221284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400800" y="3602736"/>
            <a:ext cx="3010205" cy="310896"/>
          </a:xfrm>
          <a:prstGeom prst="roundRect">
            <a:avLst>
              <a:gd name="adj" fmla="val 17647"/>
            </a:avLst>
          </a:prstGeom>
          <a:solidFill>
            <a:srgbClr val="061022">
              <a:alpha val="88000"/>
            </a:srgbClr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510528" y="3602736"/>
            <a:ext cx="27358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 view — wards by real risk</a:t>
            </a:r>
            <a:endParaRPr lang="en-US" sz="1100" dirty="0"/>
          </a:p>
        </p:txBody>
      </p:sp>
      <p:pic>
        <p:nvPicPr>
          <p:cNvPr id="10" name="Image 2" descr="C:/Users/ABHISH~1.AGA/AppData/Local/Temp/claude/c--Users-abhishek-q-agarwal-Downloads-h2s/81d2d1cd-3a2c-4b7e-9761-45a2bd863e24/scratchpad/img/s_app_street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7200" y="4279392"/>
            <a:ext cx="5440680" cy="2212848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566928" y="6071616"/>
            <a:ext cx="3171139" cy="310896"/>
          </a:xfrm>
          <a:prstGeom prst="roundRect">
            <a:avLst>
              <a:gd name="adj" fmla="val 17647"/>
            </a:avLst>
          </a:prstGeom>
          <a:solidFill>
            <a:srgbClr val="061022">
              <a:alpha val="88000"/>
            </a:srgbClr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676656" y="6071616"/>
            <a:ext cx="289681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Sub-meter street — shelters &amp; routes</a:t>
            </a:r>
            <a:endParaRPr lang="en-US" sz="1100" dirty="0"/>
          </a:p>
        </p:txBody>
      </p:sp>
      <p:pic>
        <p:nvPicPr>
          <p:cNvPr id="13" name="Image 3" descr="C:/Users/ABHISH~1.AGA/AppData/Local/Temp/claude/c--Users-abhishek-q-agarwal-Downloads-h2s/81d2d1cd-3a2c-4b7e-9761-45a2bd863e24/scratchpad/img/s_app_advisor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291072" y="4279392"/>
            <a:ext cx="5440680" cy="2212848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400800" y="6071616"/>
            <a:ext cx="3010205" cy="310896"/>
          </a:xfrm>
          <a:prstGeom prst="roundRect">
            <a:avLst>
              <a:gd name="adj" fmla="val 17647"/>
            </a:avLst>
          </a:prstGeom>
          <a:solidFill>
            <a:srgbClr val="061022">
              <a:alpha val="88000"/>
            </a:srgbClr>
          </a:solidFill>
          <a:ln/>
        </p:spPr>
      </p:sp>
      <p:sp>
        <p:nvSpPr>
          <p:cNvPr id="15" name="Text 9"/>
          <p:cNvSpPr txBox="1"/>
          <p:nvPr/>
        </p:nvSpPr>
        <p:spPr>
          <a:xfrm>
            <a:off x="6510528" y="6071616"/>
            <a:ext cx="27358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AI advisor — grounded, live</a:t>
            </a:r>
            <a:endParaRPr lang="en-US" sz="1100" dirty="0"/>
          </a:p>
        </p:txBody>
      </p:sp>
      <p:sp>
        <p:nvSpPr>
          <p:cNvPr id="16" name="Text 10"/>
          <p:cNvSpPr txBox="1"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Orbital Console</a:t>
            </a:r>
            <a:pPr algn="l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Hackathon Submission</a:t>
            </a:r>
            <a:endParaRPr lang="en-US" sz="900" dirty="0"/>
          </a:p>
        </p:txBody>
      </p:sp>
      <p:sp>
        <p:nvSpPr>
          <p:cNvPr id="17" name="Text 11"/>
          <p:cNvSpPr txBox="1"/>
          <p:nvPr/>
        </p:nvSpPr>
        <p:spPr>
          <a:xfrm>
            <a:off x="1115568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STANDS OUT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things most cyclone tools don’t do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920240"/>
            <a:ext cx="3611880" cy="1938528"/>
          </a:xfrm>
          <a:prstGeom prst="roundRect">
            <a:avLst>
              <a:gd name="adj" fmla="val 5660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2103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🛰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7860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38BD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Earth Engine, not stock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3072384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Sentinel-1 SAR flood + Copernicus DEM surge overlays — genuine satellite analysis, not decorative imagery.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51960" y="1920240"/>
            <a:ext cx="3611880" cy="1938528"/>
          </a:xfrm>
          <a:prstGeom prst="roundRect">
            <a:avLst>
              <a:gd name="adj" fmla="val 5660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53128" y="2103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4453128" y="257860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34D3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that never guesses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4453128" y="3072384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reads the live on-screen data and answers only from it — cites real ward IDs, scores and shelter status.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46720" y="1920240"/>
            <a:ext cx="3611880" cy="1938528"/>
          </a:xfrm>
          <a:prstGeom prst="roundRect">
            <a:avLst>
              <a:gd name="adj" fmla="val 5660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47888" y="2103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247888" y="257860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FBB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Orbit to sub-meter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8247888" y="3072384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continuous view from a 3D globe down to individual rooftops — competitors pick a single scale.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4005072"/>
            <a:ext cx="3611880" cy="1938528"/>
          </a:xfrm>
          <a:prstGeom prst="roundRect">
            <a:avLst>
              <a:gd name="adj" fmla="val 5660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" y="418795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46634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FB71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 mockups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5157216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layer is real Cyclone Fani data; modelled flood extent is SAR-verified at 71% IoU.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251960" y="4005072"/>
            <a:ext cx="3611880" cy="1938528"/>
          </a:xfrm>
          <a:prstGeom prst="roundRect">
            <a:avLst>
              <a:gd name="adj" fmla="val 5660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453128" y="418795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4453128" y="46634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38BD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users, one platform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453128" y="5157216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officer works in English; a farmer gets the same intelligence in Odia — both from one data asset.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46720" y="4005072"/>
            <a:ext cx="3611880" cy="1938528"/>
          </a:xfrm>
          <a:prstGeom prst="roundRect">
            <a:avLst>
              <a:gd name="adj" fmla="val 5660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47888" y="418795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8247888" y="46634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34D3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backend to run</a:t>
            </a:r>
            <a:endParaRPr lang="en-US" sz="1450" dirty="0"/>
          </a:p>
        </p:txBody>
      </p:sp>
      <p:sp>
        <p:nvSpPr>
          <p:cNvPr id="27" name="Text 25"/>
          <p:cNvSpPr txBox="1"/>
          <p:nvPr/>
        </p:nvSpPr>
        <p:spPr>
          <a:xfrm>
            <a:off x="8247888" y="5157216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static site — deploys to any CDN or a field laptop, with offline-ready SMS advisories.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Orbital Console</a:t>
            </a:r>
            <a:pPr algn="l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Hackathon Submission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15568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 &amp; DATA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platform does — and the real data behind each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847088"/>
            <a:ext cx="182880" cy="18288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184708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0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755648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 hazard layers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755648"/>
            <a:ext cx="7452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Google Earth Engine overlay — Sentinel-1 SAR flood extent, Copernicus DEM surge exposure, WorldPop population.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505456"/>
            <a:ext cx="182880" cy="18288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250545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0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414016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weather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297680" y="2414016"/>
            <a:ext cx="7452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 forecast (temperature, rain, wind) + RainViewer live precipitation radar, for any searched location.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163824"/>
            <a:ext cx="182880" cy="18288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316382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0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3072384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 AI advisor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297680" y="3072384"/>
            <a:ext cx="7452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Flash — grounded on live data, streaming, drafts trilingual advisories; never invents numbers.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822192"/>
            <a:ext cx="182880" cy="18288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2219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0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3730752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Storm-surge simulation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4297680" y="3730752"/>
            <a:ext cx="7452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Holland parametric surge model — 3.8 m peak-surge inundation zones, SAR-verified at 71% IoU.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4480560"/>
            <a:ext cx="182880" cy="18288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7200" y="448056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0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4389120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Rainfall damage pathways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4297680" y="4389120"/>
            <a:ext cx="7452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D8 flow-accumulation pluvial-ponding zones + GPM IMERG rainfall accumulation.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5138928"/>
            <a:ext cx="182880" cy="18288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7200" y="513892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0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5047488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exposure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4297680" y="5047488"/>
            <a:ext cx="7452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Cyclone shelters, power substations and arterial roads / evacuation corridors — each with live surge-impact status.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5797296"/>
            <a:ext cx="182880" cy="18288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57200" y="579729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10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5705856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Early-warning dispatch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4297680" y="5705856"/>
            <a:ext cx="7452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trilingual advisories (Odia / Hindi / English) with offline SMS templates for municipal &amp; DMA authorities.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Orbital Console</a:t>
            </a:r>
            <a:pPr algn="l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Hackathon Submission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115568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ADVISOR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your data — Gemini answers, grounded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2011680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49808" y="189280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Flash, in the browser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— no backend, no server round-trip. Your API key stays in your browser.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871216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275234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on the live data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309981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wards, surge depths, shelters and routes on screen — and answers only from them.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730752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36118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invents numbers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" y="3959352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Cites real ward IDs, vulnerability scores and shelter status; says so when data is missing.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4590288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9808" y="447141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&amp; low-latency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481888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Minimal-thinking responses stream in — fast enough for a live operations room.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5449824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9808" y="533095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Trilingual advisories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49808" y="5678424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and drafts official early-warning advisories in Odia, Hindi or English.</a:t>
            </a:r>
            <a:endParaRPr lang="en-US" sz="1200" dirty="0"/>
          </a:p>
        </p:txBody>
      </p:sp>
      <p:pic>
        <p:nvPicPr>
          <p:cNvPr id="19" name="Image 0" descr="C:/Users/ABHISH~1.AGA/AppData/Local/Temp/claude/c--Users-abhishek-q-agarwal-Downloads-h2s/81d2d1cd-3a2c-4b7e-9761-45a2bd863e24/scratchpad/img/s_app_adviso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0" y="1965960"/>
            <a:ext cx="5513832" cy="3099816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6217920" y="5138928"/>
            <a:ext cx="5513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answer — grounded in the real Puri ward data (English shown; also Odia / Hindi)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Orbital Console</a:t>
            </a:r>
            <a:pPr algn="l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Hackathon Submission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1115568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MOCKUPS · REAL FIXTURES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on actual Cyclone Fani data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96596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1488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8BD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9864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IMD/JTWC best-track waypoints, T-48h → landfall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160520" y="196596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389120" y="21488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BB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4389120" y="289864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Puri wards scored 33.6–92.4 / 100 with SHAP drivers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84048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40233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B71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3.8 m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77316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storm surge (Holland parametric model)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160520" y="384048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389120" y="40233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4D3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71%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4389120" y="477316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IoU vs. Sentinel-1 SAR flood ground-truth</a:t>
            </a:r>
            <a:endParaRPr lang="en-US" sz="1250" dirty="0"/>
          </a:p>
        </p:txBody>
      </p:sp>
      <p:pic>
        <p:nvPicPr>
          <p:cNvPr id="16" name="Image 0" descr="C:/Users/ABHISH~1.AGA/AppData/Local/Temp/claude/c--Users-abhishek-q-agarwal-Downloads-h2s/81d2d1cd-3a2c-4b7e-9761-45a2bd863e24/scratchpad/img/s_fani_puri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001000" y="1965960"/>
            <a:ext cx="3730752" cy="361188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001000" y="5596128"/>
            <a:ext cx="3730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MODIS · Fani landfall, Puri · 3 May 2019 · NASA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6163056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B7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IMD best-track &amp; OSDMA reports; surge, ponding &amp; shelter status from the PRAHARI hazard pipeline; upgradable to live GEE layers.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Orbital Console</a:t>
            </a:r>
            <a:pPr algn="l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Hackathon Submission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1115568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Early warning saves lives — the frontier is assets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2011680"/>
          <a:ext cx="59436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675120" y="2011680"/>
            <a:ext cx="5056632" cy="3657600"/>
          </a:xfrm>
          <a:prstGeom prst="roundRect">
            <a:avLst>
              <a:gd name="adj" fmla="val 3000"/>
            </a:avLst>
          </a:prstGeom>
          <a:solidFill>
            <a:srgbClr val="0F2140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949440" y="2194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benefits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949440" y="2743200"/>
            <a:ext cx="137160" cy="13716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78040" y="2624328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Responders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which shelters are reachable and which roads are severed — before deploying.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949440" y="3675888"/>
            <a:ext cx="137160" cy="137160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178040" y="3557016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Officials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wards by real vulnerability &amp; drivers to prioritise evacuation.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949440" y="4608576"/>
            <a:ext cx="137160" cy="13716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178040" y="4489704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Citizens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clear, trilingual, offline-ready advisories for their exact ward.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6163056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B7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Fatality figures are widely reported orders of magnitude: ~10,000 (1999) vs 89 (Fani, 2019).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Orbital Console</a:t>
            </a:r>
            <a:pPr algn="l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Hackathon Submission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1115568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 · TWO USERS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control room to a coastal village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965960"/>
            <a:ext cx="5532120" cy="3794760"/>
          </a:xfrm>
          <a:prstGeom prst="roundRect">
            <a:avLst>
              <a:gd name="adj" fmla="val 2892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1945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8BD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🛰  Disaster-management officer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788920"/>
            <a:ext cx="49377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Orbital view of the approaching storm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Scrub the best-track to anticipate landfall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wards; inspect shelters &amp; severed roads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AI advisor — in English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199632" y="1965960"/>
            <a:ext cx="5532120" cy="3794760"/>
          </a:xfrm>
          <a:prstGeom prst="roundRect">
            <a:avLst>
              <a:gd name="adj" fmla="val 2892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73952" y="21945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4D3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🌾  Farmer / citizen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6519672" y="2788920"/>
            <a:ext cx="49377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weather for their town — in Odia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tap shows the cyclone bearing down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shelter and the safe route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advisory + AI answers, in Odia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fused hazard-and-exposure data — served to the responder who plans, and the citizen who acts.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Orbital Console</a:t>
            </a:r>
            <a:pPr algn="l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Hackathon Submission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IT’S BUILT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Frontier data &amp; AI, deployable with no backend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2011680"/>
            <a:ext cx="3639312" cy="3566160"/>
          </a:xfrm>
          <a:prstGeom prst="roundRect">
            <a:avLst>
              <a:gd name="adj" fmla="val 3077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286000"/>
            <a:ext cx="310896" cy="310896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170432" y="224942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🌍 Rendering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88036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MapLibre GL JS v5 adaptive globe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Three.js orbital 3D Earth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entirely in the browser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24528" y="2011680"/>
            <a:ext cx="3639312" cy="3566160"/>
          </a:xfrm>
          <a:prstGeom prst="roundRect">
            <a:avLst>
              <a:gd name="adj" fmla="val 3077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98848" y="2286000"/>
            <a:ext cx="310896" cy="310896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937760" y="224942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🛰 Data &amp; AI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4517136" y="288036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Earth Engine (SAR, DEM, WorldPop)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Flash advisor, grounded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 + RainViewer live weather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991856" y="2011680"/>
            <a:ext cx="3639312" cy="3566160"/>
          </a:xfrm>
          <a:prstGeom prst="roundRect">
            <a:avLst>
              <a:gd name="adj" fmla="val 3077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66176" y="2286000"/>
            <a:ext cx="310896" cy="3108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05088" y="224942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⚡ Deploy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8284464" y="288036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static HTML/CSS/JS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CDN, GitHub Pages, or field laptop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 tiles via optional Cloud Run proxy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5742432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servers to run means judges and field teams can open the live link and use it immediately.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Orbital Console</a:t>
            </a:r>
            <a:pPr algn="l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Hackathon Submission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15568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WHAT’S NEXT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hackathon prototype to coastline-scale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965960"/>
            <a:ext cx="5440680" cy="1737360"/>
          </a:xfrm>
          <a:prstGeom prst="roundRect">
            <a:avLst>
              <a:gd name="adj" fmla="val 6316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2221992"/>
            <a:ext cx="146304" cy="146304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9264" y="211226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GEE tiles by default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624328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the Cloud Run tile proxy so SAR flood &amp; DEM surge stream in without setup.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26480" y="1965960"/>
            <a:ext cx="5440680" cy="1737360"/>
          </a:xfrm>
          <a:prstGeom prst="roundRect">
            <a:avLst>
              <a:gd name="adj" fmla="val 6316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82512" y="2221992"/>
            <a:ext cx="146304" cy="146304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38544" y="211226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coastlines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2624328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 new districts by pointing the pipeline at fresh AOIs — Andhra, West Bengal, Tamil Nadu.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5440680" cy="1737360"/>
          </a:xfrm>
          <a:prstGeom prst="roundRect">
            <a:avLst>
              <a:gd name="adj" fmla="val 6316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4096512"/>
            <a:ext cx="146304" cy="146304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69264" y="398678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Automated dispatch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4498848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advisories to SMS / IVR gateways for municipal &amp; disaster-management authorities.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0" y="3840480"/>
            <a:ext cx="5440680" cy="1737360"/>
          </a:xfrm>
          <a:prstGeom prst="roundRect">
            <a:avLst>
              <a:gd name="adj" fmla="val 6316"/>
            </a:avLst>
          </a:prstGeom>
          <a:solidFill>
            <a:srgbClr val="13294B"/>
          </a:solidFill>
          <a:ln w="12700">
            <a:solidFill>
              <a:srgbClr val="27466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82512" y="4096512"/>
            <a:ext cx="146304" cy="146304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38544" y="398678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validation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4498848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Continuously score modelled surge &amp; flood against Sentinel-1 SAR after each event.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Orbital Console</a:t>
            </a:r>
            <a:pPr algn="l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Hackathon Submission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15568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10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ABHISH~1.AGA/AppData/Local/Temp/claude/c--Users-abhishek-q-agarwal-Downloads-h2s/81d2d1cd-3a2c-4b7e-9761-45a2bd863e24/scratchpad/img/s_fani_viir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0" y="0"/>
            <a:ext cx="39620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0" y="0"/>
            <a:ext cx="3962095" cy="6858000"/>
          </a:xfrm>
          <a:prstGeom prst="rect">
            <a:avLst/>
          </a:prstGeom>
          <a:solidFill>
            <a:srgbClr val="061022">
              <a:alpha val="4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8229600" y="0"/>
            <a:ext cx="1188720" cy="6858000"/>
          </a:xfrm>
          <a:prstGeom prst="rect">
            <a:avLst/>
          </a:prstGeom>
          <a:solidFill>
            <a:srgbClr val="061022">
              <a:alpha val="92000"/>
            </a:srgbClr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40080" y="2286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NOW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03504" y="265176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PRAHARI Orbital Console</a:t>
            </a:r>
            <a:endParaRPr lang="en-US" sz="4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0690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   </a:t>
            </a:r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prahari-orbital-console.vercel.app
</a:t>
            </a:r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    </a:t>
            </a:r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github.com/abhishek-0706/prahari-orbital-console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852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MapLibre GL JS · Three.js · Gemini Flash · Google Earth Engine · Open-Meteo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&amp; sources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8288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Cyclone Fani parameters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474720" y="18288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IMD best-track &amp; post-storm reports; OSDMA situation reports. ~185 km/h, ~932 hPa, ~US$8.1B damage, 1.2M+ evacuated (widely reported).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87168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Fatality comparison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474720" y="24871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Widely reported orders of magnitude: ~10,000 (1999 super cyclone) vs 89 (Fani, 2019).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145536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data feeds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3145536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 (weather forecast) &amp; RainViewer (radar); ESRI / NASA GIBS / OpenStreetMap basemaps.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803904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 datasets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3803904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Sentinel-1 SAR, Copernicus DEM, WorldPop, GPM IMERG via Google Earth Engine.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462272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Modelling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446227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Holland parametric surge (3.8 m peak) &amp; D8 pluvial ponding; SAR-verified at 71% IoU.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51206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 image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74720" y="5120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C7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Cyclone Fani, VIIRS / MODIS true-color, 3 May 2019 — NASA Worldview (public domain).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3A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Orbital Console</a:t>
            </a:r>
            <a:pPr algn="l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Appendix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PRAHARI</dc:creator>
  <cp:lastModifiedBy>PRAHARI</cp:lastModifiedBy>
  <cp:revision>1</cp:revision>
  <dcterms:created xsi:type="dcterms:W3CDTF">2026-09-30T12:10:06Z</dcterms:created>
  <dcterms:modified xsi:type="dcterms:W3CDTF">2026-09-30T12:10:06Z</dcterms:modified>
</cp:coreProperties>
</file>