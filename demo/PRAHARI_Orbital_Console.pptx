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Cyclone fatalities in Odisha (comparable landfalls)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Fatalities</c:v>
                </c:pt>
              </c:strCache>
            </c:strRef>
          </c:tx>
          <c:spPr>
            <a:solidFill>
              <a:srgbClr val="FB71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1999 Odisha Super Cyclone</c:v>
                  </c:pt>
                  <c:pt idx="1">
                    <c:v>2019 Cyclone Fani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10000</c:v>
                </c:pt>
                <c:pt idx="1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5C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Illustrative relative spend to address one major event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cost per event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0&quot;×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Anticipatory action</c:v>
                  </c:pt>
                  <c:pt idx="1">
                    <c:v>Emergency response</c:v>
                  </c:pt>
                  <c:pt idx="2">
                    <c:v>Post-event recovery &amp; rebuild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7</c:v>
                </c:pt>
              </c:numCache>
            </c:numRef>
          </c:val>
        </c:ser>
        <c:dLbls>
          <c:numFmt formatCode="0&quot;×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5C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Illustrative value stack per protected event (indexed)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(log-scale illustrative index)</c:v>
                </c:pt>
              </c:strCache>
            </c:strRef>
          </c:tx>
          <c:spPr>
            <a:solidFill>
              <a:srgbClr val="93A5C0"/>
            </a:solidFill>
            <a:effectLst/>
          </c:spPr>
          <c:invertIfNegative val="0"/>
          <c:dLbls>
            <c:numFmt formatCode="0&quot;×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3A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Platform cost / event</c:v>
                  </c:pt>
                  <c:pt idx="1">
                    <c:v>Better-targeted evacuation</c:v>
                  </c:pt>
                  <c:pt idx="2">
                    <c:v>Avoided asset loss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20</c:v>
                </c:pt>
                <c:pt idx="2">
                  <c:v>200</c:v>
                </c:pt>
              </c:numCache>
            </c:numRef>
          </c:val>
        </c:ser>
        <c:dLbls>
          <c:numFmt formatCode="0&quot;×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3A5C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669280" cy="5669280"/>
          </a:xfrm>
          <a:prstGeom prst="ellipse">
            <a:avLst/>
          </a:prstGeom>
          <a:solidFill>
            <a:srgbClr val="0E3357"/>
          </a:solidFill>
          <a:ln w="12700">
            <a:solidFill>
              <a:srgbClr val="1C4B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731520"/>
            <a:ext cx="4206240" cy="4206240"/>
          </a:xfrm>
          <a:prstGeom prst="ellipse">
            <a:avLst/>
          </a:prstGeom>
          <a:solidFill>
            <a:srgbClr val="1122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SPATIAL INTELLIGENCE FOR DISASTER RESILIENCE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25146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PRAHARI Orbital Console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satellite data into anticipatory action — from an orbital 3D globe to sub-meter streets, with a Gemini AI advisor and live Google Earth Engine hazard layers.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Anticipatory disaster response</a:t>
            </a:r>
            <a:pPr indent="0" marL="0">
              <a:buNone/>
            </a:pPr>
            <a:r>
              <a:rPr lang="en-US" sz="1300" b="1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Cyclone-prone coastal India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prevention platform for a region that pays for disasters after they happen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1274552" cy="932688"/>
          </a:xfrm>
          <a:prstGeom prst="roundRect">
            <a:avLst>
              <a:gd name="adj" fmla="val 1176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240280"/>
            <a:ext cx="384048" cy="38404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09397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05740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India faces frequent, intensifying cyclones. Hazard data, exposure maps and citizen alerts live in disconnected silos — decisions are made blind at the last mile.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1274552" cy="932688"/>
          </a:xfrm>
          <a:prstGeom prst="roundRect">
            <a:avLst>
              <a:gd name="adj" fmla="val 1176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3291840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314553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10896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continuously-zoomable console fusing live satellite imagery, real storm tracks, surge &amp; flood zones, and infrastructure status — with an AI advisor that answers in plain language.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11274552" cy="932688"/>
          </a:xfrm>
          <a:prstGeom prst="roundRect">
            <a:avLst>
              <a:gd name="adj" fmla="val 1176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4343400"/>
            <a:ext cx="384048" cy="38404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419709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16052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Governments, insurers and utilities are shifting spend from post-disaster recovery to anticipatory action, parametric insurance and infrastructure hardening.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74552" cy="932688"/>
          </a:xfrm>
          <a:prstGeom prst="roundRect">
            <a:avLst>
              <a:gd name="adj" fmla="val 1176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5394960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524865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5212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satellite compute (Earth Engine) and low-cost multimodal AI (Gemini Flash) make sub-meter, explainable risk intelligence deployable with no backend to operate.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Bay of Bengal is the deadliest cyclone basin on Earth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Majority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35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history’s deadliest tropical cyclones have formed in the Bay of Bengal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42816" y="201168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71416" y="2240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~480 km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71416" y="3035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Odisha coastline is directly exposed to landfalling systems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28432" y="201168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57032" y="2240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57032" y="3035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sea-surface temperatures are intensifying peak wind speeds and surge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1274552" cy="1737360"/>
          </a:xfrm>
          <a:prstGeom prst="roundRect">
            <a:avLst>
              <a:gd name="adj" fmla="val 6316"/>
            </a:avLst>
          </a:prstGeom>
          <a:solidFill>
            <a:srgbClr val="0F2140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26110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failures compound at the last mile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828032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4700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50292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tracks, surge models and vulnerability scores sit in separate tools no responder sees together.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0" y="4828032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45152" y="4700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maps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45152" y="50292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basemaps stop at district level — you can’t see which road, shelter or rooftop actually floods.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4828032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02752" y="4700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miss people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02752" y="50292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Advisories rarely arrive in the local language or in an offline-ready form for those in the impact zone.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163056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basis: India Meteorological Department; NDMA; peer-reviewed cyclone climatology of the North Indian Ocean.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· CYCLONE FANI, MAY 2019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event that anchors every layer of the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 km/h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sustained winds at landfall near Puri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9659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932 hPa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926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pressure — Extremely Severe Cyclonic Storm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~US$8.1B</a:t>
            </a:r>
            <a:endParaRPr lang="en-US" sz="29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926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economic damage across Odisha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19659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M+</a:t>
            </a:r>
            <a:endParaRPr lang="en-US" sz="29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926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evacuated in under 48 hours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11274552" cy="1828800"/>
          </a:xfrm>
          <a:prstGeom prst="roundRect">
            <a:avLst>
              <a:gd name="adj" fmla="val 6000"/>
            </a:avLst>
          </a:prstGeom>
          <a:solidFill>
            <a:srgbClr val="0F2140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5137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Fani, specifically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590288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documented.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official best-track waypoints, ward-level vulnerability and shelter status make it an ideal, reproducible test case.
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Human-scale stakes.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measured in billions and evacuation in millions — small gains in targeting translate to large absolute value.
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 baseline.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surge and flood extent can be checked against Sentinel-1 SAR observations of the actual inundation.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163056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basis: IMD best-track &amp; post-storm reports; Government of Odisha / OSDMA situation reports; widely reported damage estimates.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already saves thousands of lives — the frontier is assets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01168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2011680"/>
            <a:ext cx="4965192" cy="3657600"/>
          </a:xfrm>
          <a:prstGeom prst="roundRect">
            <a:avLst>
              <a:gd name="adj" fmla="val 3000"/>
            </a:avLst>
          </a:prstGeom>
          <a:solidFill>
            <a:srgbClr val="0F2140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633472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in forecasting, mass evacuation and shelters cut fatalities by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99%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two comparable landfalls.
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unsolved half: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loss. Buildings, power, roads and livelihoods still absorb billions. The next decade of value is protecting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not just lives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exactly where granular, explainable spatial intelligence pays off.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163056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basis: Fatality figures are widely reported orders of magnitude for the 1999 super cyclone (~10,000) and Fani (89).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OF INACTION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rupee of anticipatory action displaces several of recovery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01168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21122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71232" y="1984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is cheapest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571232" y="23317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evacuation, pre-positioning and hardening cost a fraction of rebuilding after the fact.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3319272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71232" y="31912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where money burns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71232" y="35387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Reconstruction, lost output and relief dominate the true cost curve of a disaster.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0" y="452628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71232" y="43982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571232" y="4745736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left on this chart. A platform that improves targeting moves spend from red to green.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163056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basis: Illustrative ratios for framing only. Direction (prevention &lt; response &lt; recovery) is well established in disaster-economics literature (e.g. GFDRR / World Bank).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wedge into climate-risk analytics, anchored on public safety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climate &amp; disaster-risk analytics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611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Insurers, governments, utilities, infrastructure operators worldwide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214884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7992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Cyclone-exposed emerging coastal economies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3611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&amp; Southeast Asia disaster-management + parametric insurance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214884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11312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Indian coastal states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3611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DMAs, municipal bodies &amp; insurers in Odisha, AP, WB, TN, Gujarat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via government resilience budgets and insurer analytics; expand along the same coastline into utilities and infrastructure.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163056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basis: Segments are qualitative and directional; no market-size figure is asserted. Sizing to be validated bottom-up with design partners.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VALUE CHAIN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dataset, many buyers along the resilience value chain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084832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2487168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9844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2999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&amp; model data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611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SAR, DEM, WorldPop, IMD tracks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505456" y="290779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61488" y="2286000"/>
            <a:ext cx="2084832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487168"/>
            <a:ext cx="402336" cy="40233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02736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889504" y="2999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intelligence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71216" y="3611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Fusion, surge &amp; flood modelling, AI advisor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90779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65776" y="2286000"/>
            <a:ext cx="2084832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07024" y="2487168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0702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193792" y="2999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75504" y="3611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DMAs, municipal &amp; district authorities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290779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70064" y="2286000"/>
            <a:ext cx="2084832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2487168"/>
            <a:ext cx="402336" cy="40233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11312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999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transfer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3611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insurers &amp; reinsurers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290779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674352" y="2286000"/>
            <a:ext cx="2084832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0" y="2487168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156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802368" y="2999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784080" y="3611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Trilingual, offline-ready advisories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526280"/>
            <a:ext cx="11274552" cy="1325880"/>
          </a:xfrm>
          <a:prstGeom prst="roundRect">
            <a:avLst>
              <a:gd name="adj" fmla="val 8276"/>
            </a:avLst>
          </a:prstGeom>
          <a:solidFill>
            <a:srgbClr val="0F2140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commercial insight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5029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fused hazard-and-exposure layer is sold once and monetised many times — as a decision console to authorities, as a risk-scoring feed to insurers, and as a public-good advisory channel to citizens. Multi-sided demand around a single data asset.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Orbit-to-rooftop intelligence in a single browser console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2402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21854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Multi-scale globe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64261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zoom from a 3D Earth in orbit to sub-meter street tiles — no blurriness, no context loss.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82512" y="22402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0" y="21854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hazard layers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64261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storm tracks, hydrodynamic surge and flood zones, plus optional Google Earth Engine SAR/DEM overlays.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41605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71600" y="41056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AI advisor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56285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language; get grounded, action-oriented answers and drafted trilingual advisories — never invented numbers.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88620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4160520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0" y="41056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risk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56285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Ward-level vulnerability scores with the drivers behind them, so officials can defend every evacuation call.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163056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basis: Working prototype: prahari-orbital-console.vercel.app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MOAT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 data and AI, deployable with no backend to operate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39312" cy="3749040"/>
          </a:xfrm>
          <a:prstGeom prst="roundRect">
            <a:avLst>
              <a:gd name="adj" fmla="val 301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70432" y="22494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Earth Engine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8892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SAR flood detection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DEM surge exposure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WorldPop population exposure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Petabyte archive, free-tier compute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24528" y="2011680"/>
            <a:ext cx="3639312" cy="3749040"/>
          </a:xfrm>
          <a:prstGeom prst="roundRect">
            <a:avLst>
              <a:gd name="adj" fmla="val 301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2286000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22494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Flash AI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78892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low-latency answers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on live on-screen data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advisory drafting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Minimal-thinking cost profile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1856" y="2011680"/>
            <a:ext cx="3639312" cy="3749040"/>
          </a:xfrm>
          <a:prstGeom prst="roundRect">
            <a:avLst>
              <a:gd name="adj" fmla="val 301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6176" y="2286000"/>
            <a:ext cx="310896" cy="3108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05088" y="22494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rendering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78892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 JS v5 globe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orbital 3D Earth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static — any CDN / field laptop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keeps its own credentials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79729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 grows with proprietary, validated hazard fixtures per coastline and accumulated advisory feedback — not from the models, which anyone can call.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· WHERE IT PAYS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live business cases on one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22199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 evacuation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2441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&amp; city DMAs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wards by real vulnerability, see which shelters are reachable and which roads are severed, and dispatch trilingual orders — before landfall.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222199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38544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 insurance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38544" y="2441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&amp; reinsurers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788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SAR-verified flood extent and surge depth feed transparent, fast-settling parametric triggers — cutting claims friction and basis risk.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04488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4160520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9264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hardening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4379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road utilities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72744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exposure of substations, feeders and arterial roads to prioritise capital hardening and pre-storm shutdown plans.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904488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4160520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38544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Anticipatory financing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38544" y="4379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agencies &amp; donors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72744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pre-arranged funds on forecast, not on damage assessment — releasing cash while it still prevents loss.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revenue lines around one data asset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3639312" cy="2468880"/>
          </a:xfrm>
          <a:prstGeom prst="roundRect">
            <a:avLst>
              <a:gd name="adj" fmla="val 444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Public-sector SaaS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per-state / per-city licences for the decision console, with tiered seats and support. Sticky, budget-backed, renews on the resilience cycle.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24528" y="2057400"/>
            <a:ext cx="3639312" cy="2468880"/>
          </a:xfrm>
          <a:prstGeom prst="roundRect">
            <a:avLst>
              <a:gd name="adj" fmla="val 444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analytics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3063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licensing of SAR-verified hazard and exposure feeds to parametric insurers and reinsurers, priced per portfolio or per trigger.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1856" y="2057400"/>
            <a:ext cx="3639312" cy="2468880"/>
          </a:xfrm>
          <a:prstGeom prst="roundRect">
            <a:avLst>
              <a:gd name="adj" fmla="val 4444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advisory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3063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surge capacity — activation, modelling and advisory dispatch during an active threat — as a high-margin managed service.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11274552" cy="1143000"/>
          </a:xfrm>
          <a:prstGeom prst="roundRect">
            <a:avLst>
              <a:gd name="adj" fmla="val 9600"/>
            </a:avLst>
          </a:prstGeom>
          <a:solidFill>
            <a:srgbClr val="0F2140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8920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Earth Engine compute and low-cost Gemini Flash inference mean gross margin scales with coastline coverage, not headcount. No backend to operate keeps delivery lean.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buyer’s ROI is the whole pitch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011680"/>
          <a:ext cx="65836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215798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71232" y="2029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to serve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571232" y="237744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 is a rounding error against a single event’s recovery bill.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336499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71232" y="32369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targeting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71232" y="35844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modest improvement in who and what gets protected dwarfs the platform fee.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0" y="457200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71232" y="44439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571232" y="4791456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adds validated fixtures and advisory feedback that sharpen the next forecast.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163056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basis: Indexed, log-scale illustration for framing the value gap — not a financial projection. Real ROI to be measured with design-partner data.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 and explainable, where incumbents are neither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6217920" cy="3749040"/>
          </a:xfrm>
          <a:prstGeom prst="roundRect">
            <a:avLst>
              <a:gd name="adj" fmla="val 2927"/>
            </a:avLst>
          </a:prstGeom>
          <a:solidFill>
            <a:srgbClr val="0F2140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931920"/>
            <a:ext cx="6035040" cy="0"/>
          </a:xfrm>
          <a:prstGeom prst="line">
            <a:avLst/>
          </a:prstGeom>
          <a:noFill/>
          <a:ln w="19050">
            <a:solidFill>
              <a:srgbClr val="406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2148840"/>
            <a:ext cx="0" cy="3566160"/>
          </a:xfrm>
          <a:prstGeom prst="line">
            <a:avLst/>
          </a:prstGeom>
          <a:noFill/>
          <a:ln w="19050">
            <a:solidFill>
              <a:srgbClr val="4060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379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/ asset resolution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7698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only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" y="3794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76288" y="3794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37360" y="4800600"/>
            <a:ext cx="182880" cy="182880"/>
          </a:xfrm>
          <a:prstGeom prst="ellipse">
            <a:avLst/>
          </a:prstGeom>
          <a:solidFill>
            <a:srgbClr val="8593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937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GIS suites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3154680"/>
            <a:ext cx="182880" cy="182880"/>
          </a:xfrm>
          <a:prstGeom prst="ellipse">
            <a:avLst/>
          </a:prstGeom>
          <a:solidFill>
            <a:srgbClr val="8593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01168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EW systems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4434840"/>
            <a:ext cx="182880" cy="182880"/>
          </a:xfrm>
          <a:prstGeom prst="ellipse">
            <a:avLst/>
          </a:prstGeom>
          <a:solidFill>
            <a:srgbClr val="8593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31920" y="4544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 cat models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2788920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63440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PRAHARI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224028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16952" y="21031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Sub-meter + orbital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616952" y="243230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console spans both — rivals pick a scale.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60920" y="313639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16952" y="29992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scores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616952" y="332841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with its drivers, not a black box.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60920" y="403250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16952" y="38953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616952" y="42245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advisor turns data into a decision, in-language.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60920" y="4928616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16952" y="47914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Deploy-anywhere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616952" y="5120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no backend — runs on a field laptop.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Anticipatory Cyclone Response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prototype to a coastline-scale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615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3310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794760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console, Gemini advisor, GEE integration on the Fani/Puri case.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1568" y="2651760"/>
            <a:ext cx="256032" cy="25603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67328" y="2615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0–6 mo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10128" y="315468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9584" y="3310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partners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3794760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state DMAs + one insurer; validate hazard fixtures on new coastlines.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2651760"/>
            <a:ext cx="256032" cy="25603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28816" y="2615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6–18 mo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71616" y="315468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91072" y="3310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3794760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Multi-coast onboarding, parametric feed, SLA-backed event advisory.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24544" y="2651760"/>
            <a:ext cx="256032" cy="25603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90304" y="2615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mo+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833104" y="315468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13294B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52560" y="3310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794760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across South &amp; SE Asian coastal economies.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03A5C"/>
          </a:solidFill>
          <a:ln w="12700">
            <a:solidFill>
              <a:srgbClr val="27466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access with one state disaster-management authority and one insurer to validate impact and pricing on the next cyclone season.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assumptions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Fani parameters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best-track and post-storm reports; Government of Odisha / OSDMA situation reports. Peak winds ~185 km/h, ~932 hPa, ~US$8.1B damage, 1.2M+ evacuated are widely reported figures.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151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 comparison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61518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of magnitude widely reported: ~10,000 (1999 Odisha super cyclone) vs 89 (Fani, 2019).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10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risk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3101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 Ocean / Bay of Bengal cyclone climatology; NDMA and peer-reviewed literature.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05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ROI charts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0050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indexed framing only — not financial projections. Prevention &lt; response &lt; recovery is established in disaster-economics literature (GFDRR / World Bank).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000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470001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and directional. No market-size figure is asserted; to be validated bottom-up with design partners.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394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5394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SAR, Copernicus DEM, WorldPop, GPM IMERG via Google Earth Engine; IMD storm tracks.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Orbital Console</a:t>
            </a:r>
            <a:pPr algn="l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Appendix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PRAHARI</dc:creator>
  <cp:lastModifiedBy>PRAHARI</cp:lastModifiedBy>
  <cp:revision>1</cp:revision>
  <dcterms:created xsi:type="dcterms:W3CDTF">2026-09-30T00:15:22Z</dcterms:created>
  <dcterms:modified xsi:type="dcterms:W3CDTF">2026-09-30T00:15:22Z</dcterms:modified>
</cp:coreProperties>
</file>